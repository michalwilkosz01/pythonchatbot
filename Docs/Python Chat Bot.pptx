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6" r:id="rId9"/>
    <p:sldId id="260" r:id="rId10"/>
    <p:sldId id="261" r:id="rId11"/>
    <p:sldId id="262" r:id="rId12"/>
    <p:sldId id="263" r:id="rId13"/>
    <p:sldId id="265" r:id="rId14"/>
  </p:sldIdLst>
  <p:sldSz cx="12192000" cy="6858000"/>
  <p:notesSz cx="6858000" cy="9144000"/>
  <p:embeddedFontLst>
    <p:embeddedFont>
      <p:font typeface="Inter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5993DC-D540-45D3-BB10-CDF175AA4827}" v="45" dt="2026-02-07T13:20:59.0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B8F6AFE5-007F-8B3D-A840-1BC8E31F2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>
            <a:extLst>
              <a:ext uri="{FF2B5EF4-FFF2-40B4-BE49-F238E27FC236}">
                <a16:creationId xmlns:a16="http://schemas.microsoft.com/office/drawing/2014/main" id="{917F3266-8F88-F381-E2FB-04C8E5CBB7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>
            <a:extLst>
              <a:ext uri="{FF2B5EF4-FFF2-40B4-BE49-F238E27FC236}">
                <a16:creationId xmlns:a16="http://schemas.microsoft.com/office/drawing/2014/main" id="{46C0C9E1-6796-9991-13BF-0E6FFE0118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665739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358626" y="3063329"/>
            <a:ext cx="5474746" cy="82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Python Chat Bot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4177754"/>
            <a:ext cx="7620000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Nowoczesna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aplikacja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chatowa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napędzana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przez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AI,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zbudowana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oparciu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 React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Python.</a:t>
            </a:r>
            <a:endParaRPr lang="pl-PL" sz="1800" b="0" i="0" u="none" strike="noStrike" cap="none" dirty="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l-PL" sz="1800" dirty="0">
              <a:solidFill>
                <a:srgbClr val="CBD5E1"/>
              </a:solidFill>
              <a:latin typeface="Inter"/>
              <a:ea typeface="Inter"/>
              <a:sym typeface="Inter"/>
            </a:endParaRPr>
          </a:p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Kamil </a:t>
            </a:r>
            <a:r>
              <a:rPr lang="pl-PL" sz="180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Surlas</a:t>
            </a:r>
            <a:endParaRPr lang="pl-PL" sz="1800" dirty="0">
              <a:solidFill>
                <a:srgbClr val="CBD5E1"/>
              </a:solidFill>
              <a:latin typeface="Inter"/>
              <a:ea typeface="Inter"/>
              <a:sym typeface="Inter"/>
            </a:endParaRPr>
          </a:p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>
                <a:solidFill>
                  <a:srgbClr val="CBD5E1"/>
                </a:solidFill>
                <a:latin typeface="Inter"/>
                <a:ea typeface="Inter"/>
                <a:sym typeface="Inter"/>
              </a:rPr>
              <a:t>Michał Wilkosz</a:t>
            </a:r>
            <a:endParaRPr dirty="0"/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72087" y="2025104"/>
            <a:ext cx="66675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57912" y="2025104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95487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6391275" y="2661660"/>
            <a:ext cx="5219700" cy="247765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857250" y="2147887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Backend (Python):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Solidny i skalowalny backend odpowiedzialny za logikę biznesową, integrację z AI oraz zarządzanie bazą danych.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57250" y="3214687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Frontend (React):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Dynamiczny i responsywny interfejs użytkownika, zapewniający płynne doświadczenie (SPA).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57250" y="428148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Komunikacja: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Wymiana danych poprzez REST API, zapewniająca bezpieczny i szybki transfer informacji.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57250" y="504348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Design: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Ciemny motyw (Dark Mode) zoptymalizowany pod kątem komfortu pracy.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2109787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3176587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4243387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71500" y="5005387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Architektura Systemu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47900"/>
            <a:ext cx="3492400" cy="330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247900"/>
            <a:ext cx="3492549" cy="330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2247900"/>
            <a:ext cx="3492400" cy="330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794228" y="3295650"/>
            <a:ext cx="304694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Inteligentny Czat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66775" y="3733800"/>
            <a:ext cx="290185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Integracja z modelem językowym (Gemini) pozwalająca na zaawansowane konwersacje i pomoc w kodowaniu.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4572375" y="3295650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Bezpieczeństwo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644925" y="3733800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Pełny system autentykacji użytkowników, w tym logowanie, rejestracja i bezpieczne odzyskiwanie hasła.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350679" y="3295650"/>
            <a:ext cx="304694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Wielojęzyczność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423225" y="3733800"/>
            <a:ext cx="29018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Wsparcie dla wielu języków (i18n), umożliwiające łatwe przełączanie między polskim a angielskim.</a:t>
            </a:r>
            <a:endParaRPr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31950" y="259080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7251" y="25908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45550" y="25908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Kluczowe Funkcjonalności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762000" y="900112"/>
            <a:ext cx="480060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Interfejs Czatu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762000" y="1843087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Sercem aplikacji jest nowoczesny interfejs czatu, który umożliwia płynną interakcję z asystentem AI.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1047750" y="3100387"/>
            <a:ext cx="4286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Historia konwersacji dostępna w panelu bocznym.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1047750" y="3862387"/>
            <a:ext cx="4286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Przejrzysty format wiadomości z podświetlaniem składni.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1047750" y="4624387"/>
            <a:ext cx="4286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Intuicyjny input i szybkie odpowiedzi.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1047750" y="5081587"/>
            <a:ext cx="42862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Minimalistyczny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design </a:t>
            </a:r>
            <a:r>
              <a:rPr lang="en-US" sz="1500" b="0" i="0" u="none" strike="noStrike" cap="none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skupiający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uwagę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lang="pl-PL" sz="1500" b="0" i="0" u="none" strike="noStrike" cap="non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na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treści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62000" y="3062287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762000" y="3824287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762000" y="4586287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762000" y="5043487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pic>
        <p:nvPicPr>
          <p:cNvPr id="5" name="Obraz 4" descr="Obraz zawierający tekst, zrzut ekranu, oprogramowanie, Oprogramowanie multimedialne&#10;&#10;Zawartość wygenerowana przez AI może być niepoprawna.">
            <a:extLst>
              <a:ext uri="{FF2B5EF4-FFF2-40B4-BE49-F238E27FC236}">
                <a16:creationId xmlns:a16="http://schemas.microsoft.com/office/drawing/2014/main" id="{39EE3949-95CE-740A-5182-AB192AD999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1312" y="133412"/>
            <a:ext cx="6683375" cy="3205648"/>
          </a:xfrm>
          <a:prstGeom prst="rect">
            <a:avLst/>
          </a:prstGeom>
        </p:spPr>
      </p:pic>
      <p:pic>
        <p:nvPicPr>
          <p:cNvPr id="7" name="Obraz 6" descr="Obraz zawierający tekst, elektronika, zrzut ekranu, oprogramowanie&#10;&#10;Zawartość wygenerowana przez AI może być niepoprawna.">
            <a:extLst>
              <a:ext uri="{FF2B5EF4-FFF2-40B4-BE49-F238E27FC236}">
                <a16:creationId xmlns:a16="http://schemas.microsoft.com/office/drawing/2014/main" id="{0CCBDF49-8F32-D63C-D180-C89F44DA49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7717" y="3362386"/>
            <a:ext cx="7094283" cy="33622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126">
          <a:extLst>
            <a:ext uri="{FF2B5EF4-FFF2-40B4-BE49-F238E27FC236}">
              <a16:creationId xmlns:a16="http://schemas.microsoft.com/office/drawing/2014/main" id="{2C6B94EB-3738-873D-ABC7-CB1C54D22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 descr="image.png">
            <a:extLst>
              <a:ext uri="{FF2B5EF4-FFF2-40B4-BE49-F238E27FC236}">
                <a16:creationId xmlns:a16="http://schemas.microsoft.com/office/drawing/2014/main" id="{E33ACED3-4F2C-E224-8612-FD71C81B323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>
            <a:extLst>
              <a:ext uri="{FF2B5EF4-FFF2-40B4-BE49-F238E27FC236}">
                <a16:creationId xmlns:a16="http://schemas.microsoft.com/office/drawing/2014/main" id="{9266931C-096D-1D86-2E66-4FBE92334ACF}"/>
              </a:ext>
            </a:extLst>
          </p:cNvPr>
          <p:cNvSpPr txBox="1"/>
          <p:nvPr/>
        </p:nvSpPr>
        <p:spPr>
          <a:xfrm>
            <a:off x="762000" y="900112"/>
            <a:ext cx="480060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Interfejs Czatu</a:t>
            </a:r>
            <a:endParaRPr/>
          </a:p>
        </p:txBody>
      </p:sp>
      <p:sp>
        <p:nvSpPr>
          <p:cNvPr id="133" name="Google Shape;133;p16">
            <a:extLst>
              <a:ext uri="{FF2B5EF4-FFF2-40B4-BE49-F238E27FC236}">
                <a16:creationId xmlns:a16="http://schemas.microsoft.com/office/drawing/2014/main" id="{BF395C46-1C80-6777-1E84-0E67799D860F}"/>
              </a:ext>
            </a:extLst>
          </p:cNvPr>
          <p:cNvSpPr txBox="1"/>
          <p:nvPr/>
        </p:nvSpPr>
        <p:spPr>
          <a:xfrm>
            <a:off x="1047750" y="4624387"/>
            <a:ext cx="428625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CEE3C0A9-EC1F-689C-919B-B61FD677930F}"/>
              </a:ext>
            </a:extLst>
          </p:cNvPr>
          <p:cNvSpPr txBox="1"/>
          <p:nvPr/>
        </p:nvSpPr>
        <p:spPr>
          <a:xfrm>
            <a:off x="1047750" y="5081587"/>
            <a:ext cx="428625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6">
            <a:extLst>
              <a:ext uri="{FF2B5EF4-FFF2-40B4-BE49-F238E27FC236}">
                <a16:creationId xmlns:a16="http://schemas.microsoft.com/office/drawing/2014/main" id="{596B3118-81B8-49E5-DBDD-51BA1845FF8A}"/>
              </a:ext>
            </a:extLst>
          </p:cNvPr>
          <p:cNvSpPr txBox="1"/>
          <p:nvPr/>
        </p:nvSpPr>
        <p:spPr>
          <a:xfrm>
            <a:off x="762000" y="3062287"/>
            <a:ext cx="16192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6F6FCBB0-C642-5D57-D1CE-EF091B59E575}"/>
              </a:ext>
            </a:extLst>
          </p:cNvPr>
          <p:cNvSpPr txBox="1"/>
          <p:nvPr/>
        </p:nvSpPr>
        <p:spPr>
          <a:xfrm>
            <a:off x="762000" y="3824287"/>
            <a:ext cx="16192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0AA4C404-DC4A-0BF2-DA40-D875F2C99319}"/>
              </a:ext>
            </a:extLst>
          </p:cNvPr>
          <p:cNvSpPr txBox="1"/>
          <p:nvPr/>
        </p:nvSpPr>
        <p:spPr>
          <a:xfrm>
            <a:off x="762000" y="4586287"/>
            <a:ext cx="16192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6">
            <a:extLst>
              <a:ext uri="{FF2B5EF4-FFF2-40B4-BE49-F238E27FC236}">
                <a16:creationId xmlns:a16="http://schemas.microsoft.com/office/drawing/2014/main" id="{AD80FAB9-CCA2-A85F-0BE1-E82659524520}"/>
              </a:ext>
            </a:extLst>
          </p:cNvPr>
          <p:cNvSpPr txBox="1"/>
          <p:nvPr/>
        </p:nvSpPr>
        <p:spPr>
          <a:xfrm>
            <a:off x="762000" y="5043487"/>
            <a:ext cx="16192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Obraz 7" descr="Obraz zawierający tekst, zrzut ekranu, oprogramowanie, Oprogramowanie multimedialne&#10;&#10;Zawartość wygenerowana przez AI może być niepoprawna.">
            <a:extLst>
              <a:ext uri="{FF2B5EF4-FFF2-40B4-BE49-F238E27FC236}">
                <a16:creationId xmlns:a16="http://schemas.microsoft.com/office/drawing/2014/main" id="{FEB9B629-899B-7CDD-69B7-81869EC7A6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72047"/>
            <a:ext cx="7727389" cy="3954250"/>
          </a:xfrm>
          <a:prstGeom prst="rect">
            <a:avLst/>
          </a:prstGeom>
        </p:spPr>
      </p:pic>
      <p:pic>
        <p:nvPicPr>
          <p:cNvPr id="10" name="Obraz 9" descr="Obraz zawierający tekst, oprogramowanie, Oprogramowanie multimedialne, Oprogramowanie graficzne&#10;&#10;Zawartość wygenerowana przez AI może być niepoprawna.">
            <a:extLst>
              <a:ext uri="{FF2B5EF4-FFF2-40B4-BE49-F238E27FC236}">
                <a16:creationId xmlns:a16="http://schemas.microsoft.com/office/drawing/2014/main" id="{9239A692-281A-139A-0B2F-044F80ECB7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9289" y="2774724"/>
            <a:ext cx="7270843" cy="369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547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71500" y="1985962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Ochrona Danych Użytkownika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571500" y="242411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Aplikacja kładzie duży nacisk na bezpieczeństwo kont użytkowników poprzez zaawansowane mechanizmy.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57250" y="3224212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Tokeny Odzyskiwania: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Bezpieczny proces resetowania hasła z użyciem jednorazowych tokenów weryfikacyjnych.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857250" y="429101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Szyfrowanie: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Bezpieczne przechowywanie haseł i danych wrażliwych.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857250" y="505301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Sesje: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Zarządzanie sesją użytkownika zapewniające autoryzowany dostęp do zasobów.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571500" y="3186112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571500" y="4252912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571500" y="5014912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err="1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Bezpieczeństwo</a:t>
            </a:r>
            <a:r>
              <a:rPr lang="en-US" sz="3600" b="1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600" b="1" i="0" u="none" strike="noStrike" cap="none" err="1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3600" b="1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pl-PL" sz="3600" b="1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Uwierzytelnianie</a:t>
            </a:r>
            <a:endParaRPr/>
          </a:p>
        </p:txBody>
      </p:sp>
      <p:pic>
        <p:nvPicPr>
          <p:cNvPr id="3" name="Obraz 2" descr="Obraz zawierający zrzut ekranu, tekst, Oprogramowanie multimedialne, design&#10;&#10;Zawartość wygenerowana przez AI może być niepoprawna.">
            <a:extLst>
              <a:ext uri="{FF2B5EF4-FFF2-40B4-BE49-F238E27FC236}">
                <a16:creationId xmlns:a16="http://schemas.microsoft.com/office/drawing/2014/main" id="{594CF0AD-67EC-2DDF-DA44-285DE5A264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312" y="1067202"/>
            <a:ext cx="6095999" cy="2893610"/>
          </a:xfrm>
          <a:prstGeom prst="rect">
            <a:avLst/>
          </a:prstGeom>
        </p:spPr>
      </p:pic>
      <p:pic>
        <p:nvPicPr>
          <p:cNvPr id="5" name="Obraz 4" descr="Obraz zawierający zrzut ekranu, tekst, Oprogramowanie multimedialne, design&#10;&#10;Zawartość wygenerowana przez AI może być niepoprawna.">
            <a:extLst>
              <a:ext uri="{FF2B5EF4-FFF2-40B4-BE49-F238E27FC236}">
                <a16:creationId xmlns:a16="http://schemas.microsoft.com/office/drawing/2014/main" id="{2AFAF4C8-6C18-27EC-D96F-B8FB12F74D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3124" y="3361035"/>
            <a:ext cx="6238875" cy="29677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6381750" y="2366962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Personalizacja Konta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6381750" y="280511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Użytkownicy mają pełną kontrolę nad swoimi danymi poprzez dedykowany panel edycji profilu.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667500" y="360521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Edycja nazwy użytkownika i adresu email.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667500" y="406241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Bezpieczna zmiana hasła.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667500" y="451961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Zarządzanie kluczami API (np. do Gemini).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667500" y="497681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Podgląd statusu konta i ustawień prywatności.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6381750" y="3567112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6381750" y="4024312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381750" y="4481512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6381750" y="4938712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Zarządzanie Profilem</a:t>
            </a:r>
            <a:endParaRPr/>
          </a:p>
        </p:txBody>
      </p:sp>
      <p:pic>
        <p:nvPicPr>
          <p:cNvPr id="3" name="Obraz 2" descr="Obraz zawierający tekst, zrzut ekranu, oprogramowanie&#10;&#10;Zawartość wygenerowana przez AI może być niepoprawna.">
            <a:extLst>
              <a:ext uri="{FF2B5EF4-FFF2-40B4-BE49-F238E27FC236}">
                <a16:creationId xmlns:a16="http://schemas.microsoft.com/office/drawing/2014/main" id="{A48F4281-9261-270F-F759-AEB3F65CB6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7176" y="1643062"/>
            <a:ext cx="3047398" cy="4838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571500" y="2321272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Dostępność Językowa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571500" y="2759422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Aplikacja została zaprojektowana z myślą o użytkownikach z różnych regionów, oferując natywne wsparcie dla wielu języków.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571500" y="487010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Dynamiczne przełączanie języka interfejsu bez konieczności przeładowania strony.</a:t>
            </a:r>
            <a:endParaRPr/>
          </a:p>
        </p:txBody>
      </p:sp>
      <p:pic>
        <p:nvPicPr>
          <p:cNvPr id="183" name="Google Shape;18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" y="395957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571500" y="4435822"/>
            <a:ext cx="5334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Polski</a:t>
            </a:r>
            <a:endParaRPr/>
          </a:p>
        </p:txBody>
      </p:sp>
      <p:pic>
        <p:nvPicPr>
          <p:cNvPr id="185" name="Google Shape;18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81112" y="395957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1190624" y="4435822"/>
            <a:ext cx="644525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English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3600" b="1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Wersje językowe</a:t>
            </a:r>
            <a:endParaRPr/>
          </a:p>
        </p:txBody>
      </p:sp>
      <p:pic>
        <p:nvPicPr>
          <p:cNvPr id="3" name="Obraz 2" descr="Obraz zawierający tekst, zrzut ekranu, Czcionka, design&#10;&#10;Zawartość wygenerowana przez AI może być niepoprawna.">
            <a:extLst>
              <a:ext uri="{FF2B5EF4-FFF2-40B4-BE49-F238E27FC236}">
                <a16:creationId xmlns:a16="http://schemas.microsoft.com/office/drawing/2014/main" id="{100D3A76-95D6-38B7-B7AA-BF5B7C2636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5487" y="570694"/>
            <a:ext cx="3382181" cy="3097906"/>
          </a:xfrm>
          <a:prstGeom prst="rect">
            <a:avLst/>
          </a:prstGeom>
        </p:spPr>
      </p:pic>
      <p:pic>
        <p:nvPicPr>
          <p:cNvPr id="4" name="Obraz 3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00BB9218-A4BC-4BC4-91AE-CB87A35DB1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6929" y="3328919"/>
            <a:ext cx="3508422" cy="31944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66887"/>
            <a:ext cx="5334000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766887"/>
            <a:ext cx="5334000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90987"/>
            <a:ext cx="5334000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0" y="4090987"/>
            <a:ext cx="5334000" cy="19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866775" y="2062162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14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 React Hooks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866775" y="2500312"/>
            <a:ext cx="47434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Wykorzystanie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hooków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500" b="0" i="0" u="none" strike="noStrike" cap="none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useState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00" b="0" i="0" u="none" strike="noStrike" cap="none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useEffect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) do </a:t>
            </a:r>
            <a:r>
              <a:rPr lang="en-US" sz="1500" b="0" i="0" u="none" strike="noStrike" cap="none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zarządzania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stanem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aplikacji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cyklem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życia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komponentów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6581775" y="2062162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14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Routing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6581775" y="2500312"/>
            <a:ext cx="4743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React Router zapewniający płynną nawigację między widokami (Dashboard, Profil, Auth) bez przeładowania strony.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866775" y="4386262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29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 API Integration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866775" y="4824412"/>
            <a:ext cx="4743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Asynchroniczne zapytania do backendu Python obsługujące logikę autentykacji i komunikację z modelem AI.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6581775" y="4386262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14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CSS &amp; UI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6581775" y="4824412"/>
            <a:ext cx="4743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Responsywny design oparty na Flexbox i Grid, z pełnym wsparciem dla trybu ciemnego i spójnym systemem stylów.</a:t>
            </a:r>
            <a:endParaRPr/>
          </a:p>
        </p:txBody>
      </p:sp>
      <p:pic>
        <p:nvPicPr>
          <p:cNvPr id="205" name="Google Shape;205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6775" y="2090737"/>
            <a:ext cx="26149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81775" y="2090737"/>
            <a:ext cx="26149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6775" y="4414837"/>
            <a:ext cx="232916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581775" y="4414837"/>
            <a:ext cx="26149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Technologia "Pod Maską"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43100"/>
            <a:ext cx="11049000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 txBox="1"/>
          <p:nvPr/>
        </p:nvSpPr>
        <p:spPr>
          <a:xfrm>
            <a:off x="295275" y="253365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Podsumowanie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2286000" y="3409950"/>
            <a:ext cx="7620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Python Chat Bot to kompletne, nowoczesne rozwiązanie łączące moc sztucznej inteligencji z bezpieczną i skalowalną architekturą webową. To solidna baza do dalszego rozwoju innowacyjnych usług.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1B6FD94D2A4AA47AFE1F6F6DB252FE9" ma:contentTypeVersion="17" ma:contentTypeDescription="Utwórz nowy dokument." ma:contentTypeScope="" ma:versionID="a97da95e293fc5e7d269a22eab0e0344">
  <xsd:schema xmlns:xsd="http://www.w3.org/2001/XMLSchema" xmlns:xs="http://www.w3.org/2001/XMLSchema" xmlns:p="http://schemas.microsoft.com/office/2006/metadata/properties" xmlns:ns3="4807c664-fab7-4e2f-85c9-fc80cc29c763" xmlns:ns4="2d4e7520-f4b1-4176-ba5b-ef2035b4956e" targetNamespace="http://schemas.microsoft.com/office/2006/metadata/properties" ma:root="true" ma:fieldsID="8b59103b866df86f89a78bb969956709" ns3:_="" ns4:_="">
    <xsd:import namespace="4807c664-fab7-4e2f-85c9-fc80cc29c763"/>
    <xsd:import namespace="2d4e7520-f4b1-4176-ba5b-ef2035b4956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07c664-fab7-4e2f-85c9-fc80cc29c7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24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4e7520-f4b1-4176-ba5b-ef2035b4956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Udostępniani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Udostępnione dla — szczegóły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krót wskazówki dotyczącej udostępniania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807c664-fab7-4e2f-85c9-fc80cc29c763" xsi:nil="true"/>
  </documentManagement>
</p:properties>
</file>

<file path=customXml/itemProps1.xml><?xml version="1.0" encoding="utf-8"?>
<ds:datastoreItem xmlns:ds="http://schemas.openxmlformats.org/officeDocument/2006/customXml" ds:itemID="{779FAED2-9830-4F25-839A-1CE7FAE3EBF5}">
  <ds:schemaRefs>
    <ds:schemaRef ds:uri="2d4e7520-f4b1-4176-ba5b-ef2035b4956e"/>
    <ds:schemaRef ds:uri="4807c664-fab7-4e2f-85c9-fc80cc29c76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5505118-6A3D-43FA-80AB-1CB37190D84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65A1373-A5F7-4AAE-9EC6-DE91CB9F70D4}">
  <ds:schemaRefs>
    <ds:schemaRef ds:uri="http://schemas.microsoft.com/office/2006/metadata/properties"/>
    <ds:schemaRef ds:uri="http://www.w3.org/XML/1998/namespace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2d4e7520-f4b1-4176-ba5b-ef2035b4956e"/>
    <ds:schemaRef ds:uri="4807c664-fab7-4e2f-85c9-fc80cc29c76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442</Words>
  <Application>Microsoft Office PowerPoint</Application>
  <PresentationFormat>Panoramiczny</PresentationFormat>
  <Paragraphs>70</Paragraphs>
  <Slides>10</Slides>
  <Notes>10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4" baseType="lpstr">
      <vt:lpstr>Arial</vt:lpstr>
      <vt:lpstr>Calibri</vt:lpstr>
      <vt:lpstr>Inter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Michal</dc:creator>
  <cp:lastModifiedBy>Michał Wilkosz (michwil132)</cp:lastModifiedBy>
  <cp:revision>1</cp:revision>
  <dcterms:modified xsi:type="dcterms:W3CDTF">2026-02-07T13:20:59Z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0x01010061B6FD94D2A4AA47AFE1F6F6DB252FE9</vt:lpwstr>
  </property>
</Properties>
</file>